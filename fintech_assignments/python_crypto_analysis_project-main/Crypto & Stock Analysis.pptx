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1"/>
  </p:sldMasterIdLst>
  <p:notesMasterIdLst>
    <p:notesMasterId r:id="rId20"/>
  </p:notesMasterIdLst>
  <p:sldIdLst>
    <p:sldId id="274" r:id="rId2"/>
    <p:sldId id="270" r:id="rId3"/>
    <p:sldId id="277" r:id="rId4"/>
    <p:sldId id="269" r:id="rId5"/>
    <p:sldId id="266" r:id="rId6"/>
    <p:sldId id="267" r:id="rId7"/>
    <p:sldId id="264" r:id="rId8"/>
    <p:sldId id="260" r:id="rId9"/>
    <p:sldId id="261" r:id="rId10"/>
    <p:sldId id="262" r:id="rId11"/>
    <p:sldId id="256" r:id="rId12"/>
    <p:sldId id="280" r:id="rId13"/>
    <p:sldId id="279" r:id="rId14"/>
    <p:sldId id="281" r:id="rId15"/>
    <p:sldId id="282" r:id="rId16"/>
    <p:sldId id="273" r:id="rId17"/>
    <p:sldId id="271" r:id="rId18"/>
    <p:sldId id="2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2"/>
    <p:restoredTop sz="94778"/>
  </p:normalViewPr>
  <p:slideViewPr>
    <p:cSldViewPr snapToGrid="0">
      <p:cViewPr varScale="1">
        <p:scale>
          <a:sx n="93" d="100"/>
          <a:sy n="93" d="100"/>
        </p:scale>
        <p:origin x="127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4B6B41-3771-4707-BDE7-A9D0E5CECE98}" type="datetimeFigureOut">
              <a:rPr lang="en-US" smtClean="0"/>
              <a:t>2/23/2023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93E570-715F-4A05-AC17-4C789AF09ACA}" type="slidenum">
              <a:rPr lang="en-US" smtClean="0"/>
              <a:t>‹#›</a:t>
            </a:fld>
            <a:endParaRPr lang="en-US"/>
          </a:p>
        </p:txBody>
      </p:sp>
    </p:spTree>
    <p:extLst>
      <p:ext uri="{BB962C8B-B14F-4D97-AF65-F5344CB8AC3E}">
        <p14:creationId xmlns:p14="http://schemas.microsoft.com/office/powerpoint/2010/main" val="2181066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3E570-715F-4A05-AC17-4C789AF09ACA}" type="slidenum">
              <a:rPr lang="en-US" smtClean="0"/>
              <a:t>16</a:t>
            </a:fld>
            <a:endParaRPr lang="en-US"/>
          </a:p>
        </p:txBody>
      </p:sp>
    </p:spTree>
    <p:extLst>
      <p:ext uri="{BB962C8B-B14F-4D97-AF65-F5344CB8AC3E}">
        <p14:creationId xmlns:p14="http://schemas.microsoft.com/office/powerpoint/2010/main" val="1459013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2/23/2023</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9370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2/23/2023</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021456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2/23/2023</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629511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2/23/2023</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1033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2/23/2023</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697813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2/23/2023</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39357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2/23/2023</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43298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2/23/2023</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09074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2/23/2023</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849385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2/23/2023</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810499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2/23/2023</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97672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2/23/2023</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902938501"/>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24" r:id="rId6"/>
    <p:sldLayoutId id="2147483719" r:id="rId7"/>
    <p:sldLayoutId id="2147483720" r:id="rId8"/>
    <p:sldLayoutId id="2147483721" r:id="rId9"/>
    <p:sldLayoutId id="2147483723" r:id="rId10"/>
    <p:sldLayoutId id="2147483722" r:id="rId11"/>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console.cloud.google.com/apis/library?project=sentimentandrisk&amp;cloudshell=true" TargetMode="External"/><Relationship Id="rId3" Type="http://schemas.openxmlformats.org/officeDocument/2006/relationships/hyperlink" Target="https://pypi.org/project/Historic-Crypto/" TargetMode="External"/><Relationship Id="rId7" Type="http://schemas.openxmlformats.org/officeDocument/2006/relationships/hyperlink" Target="https://codelabs.developers.google.com/codelabs/cloud-natural-language-python3#7" TargetMode="External"/><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hyperlink" Target="https://www.investopedia.com/terms/r/risk-analysis.asp" TargetMode="External"/><Relationship Id="rId11" Type="http://schemas.openxmlformats.org/officeDocument/2006/relationships/hyperlink" Target="https://alpaca.markets/docs/market-data/news/" TargetMode="External"/><Relationship Id="rId5" Type="http://schemas.openxmlformats.org/officeDocument/2006/relationships/hyperlink" Target="https://soundmindinvesting.com/articles/two-types-of-risk#:~:text=SMI%20uses%20standard%20deviation%20to,is%20the%20S%26P%20500%20index." TargetMode="External"/><Relationship Id="rId10" Type="http://schemas.openxmlformats.org/officeDocument/2006/relationships/hyperlink" Target="https://hvplot.holoviz.org/user_guide/Timeseries_Data.html" TargetMode="External"/><Relationship Id="rId4" Type="http://schemas.openxmlformats.org/officeDocument/2006/relationships/hyperlink" Target="https://pandas.pydata.org/docs/" TargetMode="External"/><Relationship Id="rId9" Type="http://schemas.openxmlformats.org/officeDocument/2006/relationships/hyperlink" Target="https://docs.data.nasdaq.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0B8AD67C-DCF5-49D9-8CAC-2A1224FBA7DB}"/>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4FEE031-7FC5-BBA4-3CFF-27A05A4FF60D}"/>
              </a:ext>
            </a:extLst>
          </p:cNvPr>
          <p:cNvSpPr>
            <a:spLocks noGrp="1"/>
          </p:cNvSpPr>
          <p:nvPr>
            <p:ph type="title"/>
          </p:nvPr>
        </p:nvSpPr>
        <p:spPr>
          <a:xfrm>
            <a:off x="1011936" y="1025680"/>
            <a:ext cx="10168128" cy="1179576"/>
          </a:xfrm>
        </p:spPr>
        <p:txBody>
          <a:bodyPr/>
          <a:lstStyle/>
          <a:p>
            <a:r>
              <a:rPr lang="en-US" dirty="0">
                <a:solidFill>
                  <a:schemeClr val="bg1"/>
                </a:solidFill>
              </a:rPr>
              <a:t>                   </a:t>
            </a:r>
            <a:r>
              <a:rPr lang="en-US" sz="4800" dirty="0">
                <a:solidFill>
                  <a:schemeClr val="bg1"/>
                </a:solidFill>
              </a:rPr>
              <a:t>Business Analysis </a:t>
            </a:r>
            <a:endParaRPr lang="en-US" dirty="0">
              <a:solidFill>
                <a:schemeClr val="bg1"/>
              </a:solidFill>
            </a:endParaRPr>
          </a:p>
        </p:txBody>
      </p:sp>
      <p:sp>
        <p:nvSpPr>
          <p:cNvPr id="3" name="Content Placeholder 2">
            <a:extLst>
              <a:ext uri="{FF2B5EF4-FFF2-40B4-BE49-F238E27FC236}">
                <a16:creationId xmlns:a16="http://schemas.microsoft.com/office/drawing/2014/main" id="{415B6733-FB7C-2D8D-F0D5-771340726442}"/>
              </a:ext>
            </a:extLst>
          </p:cNvPr>
          <p:cNvSpPr>
            <a:spLocks noGrp="1"/>
          </p:cNvSpPr>
          <p:nvPr>
            <p:ph idx="1"/>
          </p:nvPr>
        </p:nvSpPr>
        <p:spPr>
          <a:xfrm>
            <a:off x="2722652" y="2667978"/>
            <a:ext cx="7058791" cy="1522044"/>
          </a:xfrm>
        </p:spPr>
        <p:txBody>
          <a:bodyPr>
            <a:normAutofit fontScale="25000" lnSpcReduction="20000"/>
          </a:bodyPr>
          <a:lstStyle/>
          <a:p>
            <a:pPr marL="0" indent="0" algn="ctr">
              <a:buNone/>
            </a:pPr>
            <a:r>
              <a:rPr lang="en-US" sz="3600" dirty="0">
                <a:solidFill>
                  <a:schemeClr val="bg1"/>
                </a:solidFill>
              </a:rPr>
              <a:t>     </a:t>
            </a:r>
            <a:r>
              <a:rPr lang="en-US" sz="14000" dirty="0">
                <a:solidFill>
                  <a:schemeClr val="bg1"/>
                </a:solidFill>
              </a:rPr>
              <a:t>Crypto &amp; Stock 2023 Potential  </a:t>
            </a:r>
          </a:p>
          <a:p>
            <a:pPr marL="0" indent="0" algn="ctr">
              <a:buNone/>
            </a:pPr>
            <a:r>
              <a:rPr lang="en-US" sz="14000" dirty="0">
                <a:solidFill>
                  <a:schemeClr val="bg1"/>
                </a:solidFill>
              </a:rPr>
              <a:t>Performance, Risk, Sentiment </a:t>
            </a:r>
          </a:p>
        </p:txBody>
      </p:sp>
      <p:sp>
        <p:nvSpPr>
          <p:cNvPr id="4" name="TextBox 3">
            <a:extLst>
              <a:ext uri="{FF2B5EF4-FFF2-40B4-BE49-F238E27FC236}">
                <a16:creationId xmlns:a16="http://schemas.microsoft.com/office/drawing/2014/main" id="{6CED4250-F6AC-D7CD-B54C-94DA74C6E037}"/>
              </a:ext>
            </a:extLst>
          </p:cNvPr>
          <p:cNvSpPr txBox="1"/>
          <p:nvPr/>
        </p:nvSpPr>
        <p:spPr>
          <a:xfrm>
            <a:off x="3698697" y="4375745"/>
            <a:ext cx="5928189" cy="553998"/>
          </a:xfrm>
          <a:prstGeom prst="rect">
            <a:avLst/>
          </a:prstGeom>
          <a:noFill/>
        </p:spPr>
        <p:txBody>
          <a:bodyPr wrap="square" rtlCol="0">
            <a:spAutoFit/>
          </a:bodyPr>
          <a:lstStyle/>
          <a:p>
            <a:r>
              <a:rPr lang="en-US" sz="3000" dirty="0">
                <a:solidFill>
                  <a:schemeClr val="bg1"/>
                </a:solidFill>
              </a:rPr>
              <a:t>Damian	  </a:t>
            </a:r>
            <a:r>
              <a:rPr lang="en-US" sz="3000" dirty="0" err="1">
                <a:solidFill>
                  <a:schemeClr val="bg1"/>
                </a:solidFill>
              </a:rPr>
              <a:t>Neya</a:t>
            </a:r>
            <a:r>
              <a:rPr lang="en-US" sz="3000" dirty="0">
                <a:solidFill>
                  <a:schemeClr val="bg1"/>
                </a:solidFill>
              </a:rPr>
              <a:t>	 Zach</a:t>
            </a:r>
          </a:p>
        </p:txBody>
      </p:sp>
    </p:spTree>
    <p:extLst>
      <p:ext uri="{BB962C8B-B14F-4D97-AF65-F5344CB8AC3E}">
        <p14:creationId xmlns:p14="http://schemas.microsoft.com/office/powerpoint/2010/main" val="2878814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hite puzzle with one red piece">
            <a:extLst>
              <a:ext uri="{FF2B5EF4-FFF2-40B4-BE49-F238E27FC236}">
                <a16:creationId xmlns:a16="http://schemas.microsoft.com/office/drawing/2014/main" id="{397A451E-4972-61CE-FC6F-143C60A8E3D6}"/>
              </a:ext>
            </a:extLst>
          </p:cNvPr>
          <p:cNvPicPr>
            <a:picLocks noChangeAspect="1"/>
          </p:cNvPicPr>
          <p:nvPr/>
        </p:nvPicPr>
        <p:blipFill rotWithShape="1">
          <a:blip r:embed="rId2"/>
          <a:srcRect/>
          <a:stretch/>
        </p:blipFill>
        <p:spPr>
          <a:xfrm>
            <a:off x="0" y="0"/>
            <a:ext cx="12191980" cy="6857990"/>
          </a:xfrm>
          <a:prstGeom prst="rect">
            <a:avLst/>
          </a:prstGeom>
        </p:spPr>
      </p:pic>
      <p:sp>
        <p:nvSpPr>
          <p:cNvPr id="15" name="Rectangle 14">
            <a:extLst>
              <a:ext uri="{FF2B5EF4-FFF2-40B4-BE49-F238E27FC236}">
                <a16:creationId xmlns:a16="http://schemas.microsoft.com/office/drawing/2014/main" id="{A44CD100-6267-4E62-AA64-2182A3A6A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alpha val="30000"/>
                </a:schemeClr>
              </a:gs>
              <a:gs pos="33000">
                <a:schemeClr val="tx1">
                  <a:alpha val="20000"/>
                </a:schemeClr>
              </a:gs>
              <a:gs pos="0">
                <a:schemeClr val="tx1">
                  <a:alpha val="0"/>
                </a:schemeClr>
              </a:gs>
              <a:gs pos="100000">
                <a:schemeClr val="tx1">
                  <a:alpha val="3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01180EC-0283-E565-8B39-0A20652E0523}"/>
              </a:ext>
            </a:extLst>
          </p:cNvPr>
          <p:cNvSpPr>
            <a:spLocks noGrp="1"/>
          </p:cNvSpPr>
          <p:nvPr>
            <p:ph type="title"/>
          </p:nvPr>
        </p:nvSpPr>
        <p:spPr>
          <a:xfrm>
            <a:off x="299305" y="928894"/>
            <a:ext cx="4023360" cy="1684841"/>
          </a:xfrm>
        </p:spPr>
        <p:txBody>
          <a:bodyPr vert="horz" lIns="91440" tIns="45720" rIns="91440" bIns="45720" rtlCol="0" anchor="b">
            <a:normAutofit/>
          </a:bodyPr>
          <a:lstStyle/>
          <a:p>
            <a:r>
              <a:rPr lang="en-US" sz="4800" dirty="0">
                <a:solidFill>
                  <a:schemeClr val="bg1"/>
                </a:solidFill>
              </a:rPr>
              <a:t>Our motivations </a:t>
            </a:r>
          </a:p>
        </p:txBody>
      </p:sp>
      <p:sp>
        <p:nvSpPr>
          <p:cNvPr id="17" name="Rectangle 1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C51AB753-C7C0-0860-1F86-5759F0E2037C}"/>
              </a:ext>
            </a:extLst>
          </p:cNvPr>
          <p:cNvSpPr txBox="1"/>
          <p:nvPr/>
        </p:nvSpPr>
        <p:spPr>
          <a:xfrm rot="10800000" flipH="1" flipV="1">
            <a:off x="425985" y="4599666"/>
            <a:ext cx="8487242" cy="1323439"/>
          </a:xfrm>
          <a:prstGeom prst="rect">
            <a:avLst/>
          </a:prstGeom>
          <a:solidFill>
            <a:schemeClr val="tx1">
              <a:lumMod val="65000"/>
              <a:lumOff val="35000"/>
            </a:schemeClr>
          </a:solidFill>
        </p:spPr>
        <p:txBody>
          <a:bodyPr wrap="square" rtlCol="0">
            <a:spAutoFit/>
          </a:bodyPr>
          <a:lstStyle/>
          <a:p>
            <a:r>
              <a:rPr lang="en-US" sz="2000" dirty="0">
                <a:solidFill>
                  <a:schemeClr val="bg1"/>
                </a:solidFill>
              </a:rPr>
              <a:t>Our motivation began with trying to figure out how certain age groups invest their money &amp; how can we predict what their portfolio’s would look like. As we went through and began searching for data, we found that there was a lot more to this question than we initially thought. </a:t>
            </a:r>
          </a:p>
        </p:txBody>
      </p:sp>
    </p:spTree>
    <p:extLst>
      <p:ext uri="{BB962C8B-B14F-4D97-AF65-F5344CB8AC3E}">
        <p14:creationId xmlns:p14="http://schemas.microsoft.com/office/powerpoint/2010/main" val="3449490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F44879F-6698-4394-89D4-7B3CDB92E9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a:extLst>
              <a:ext uri="{FF2B5EF4-FFF2-40B4-BE49-F238E27FC236}">
                <a16:creationId xmlns:a16="http://schemas.microsoft.com/office/drawing/2014/main" id="{C65FD3B2-577C-49A0-B40E-4845C5D597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pic>
        <p:nvPicPr>
          <p:cNvPr id="5" name="Picture 4" descr="Diagram&#10;&#10;Description automatically generated with medium confidence">
            <a:extLst>
              <a:ext uri="{FF2B5EF4-FFF2-40B4-BE49-F238E27FC236}">
                <a16:creationId xmlns:a16="http://schemas.microsoft.com/office/drawing/2014/main" id="{7530CEA1-CD50-638F-7EE5-2753FFCE4F4F}"/>
              </a:ext>
            </a:extLst>
          </p:cNvPr>
          <p:cNvPicPr>
            <a:picLocks noChangeAspect="1"/>
          </p:cNvPicPr>
          <p:nvPr/>
        </p:nvPicPr>
        <p:blipFill rotWithShape="1">
          <a:blip r:embed="rId2">
            <a:alphaModFix amt="40000"/>
          </a:blip>
          <a:srcRect l="6667"/>
          <a:stretch/>
        </p:blipFill>
        <p:spPr>
          <a:xfrm>
            <a:off x="25918" y="10"/>
            <a:ext cx="12191979" cy="6857990"/>
          </a:xfrm>
          <a:prstGeom prst="rect">
            <a:avLst/>
          </a:prstGeom>
        </p:spPr>
      </p:pic>
      <p:sp>
        <p:nvSpPr>
          <p:cNvPr id="2" name="Title 1">
            <a:extLst>
              <a:ext uri="{FF2B5EF4-FFF2-40B4-BE49-F238E27FC236}">
                <a16:creationId xmlns:a16="http://schemas.microsoft.com/office/drawing/2014/main" id="{E4E129BA-29C4-C136-3D54-5D460D81585A}"/>
              </a:ext>
            </a:extLst>
          </p:cNvPr>
          <p:cNvSpPr>
            <a:spLocks noGrp="1"/>
          </p:cNvSpPr>
          <p:nvPr>
            <p:ph type="title"/>
          </p:nvPr>
        </p:nvSpPr>
        <p:spPr>
          <a:xfrm>
            <a:off x="841248" y="426720"/>
            <a:ext cx="10506456" cy="1919141"/>
          </a:xfrm>
        </p:spPr>
        <p:txBody>
          <a:bodyPr anchor="b">
            <a:normAutofit/>
          </a:bodyPr>
          <a:lstStyle/>
          <a:p>
            <a:r>
              <a:rPr lang="en-US" sz="6000" dirty="0">
                <a:solidFill>
                  <a:srgbClr val="FFFFFF"/>
                </a:solidFill>
              </a:rPr>
              <a:t>Questions we asked ourselves</a:t>
            </a:r>
          </a:p>
        </p:txBody>
      </p:sp>
      <p:sp>
        <p:nvSpPr>
          <p:cNvPr id="14" name="Rectangle 13">
            <a:extLst>
              <a:ext uri="{FF2B5EF4-FFF2-40B4-BE49-F238E27FC236}">
                <a16:creationId xmlns:a16="http://schemas.microsoft.com/office/drawing/2014/main" id="{7A0B5DEA-ADF6-4BA5-9307-147F0A468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8680" y="2898648"/>
            <a:ext cx="10506456" cy="18288"/>
          </a:xfrm>
          <a:prstGeom prst="rect">
            <a:avLst/>
          </a:prstGeom>
          <a:solidFill>
            <a:srgbClr val="FFFF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83982"/>
            <a:ext cx="1873457"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0447DF4-BD3A-3CBB-DFD1-E1D3DE425C5E}"/>
              </a:ext>
            </a:extLst>
          </p:cNvPr>
          <p:cNvSpPr>
            <a:spLocks noGrp="1"/>
          </p:cNvSpPr>
          <p:nvPr>
            <p:ph idx="1"/>
          </p:nvPr>
        </p:nvSpPr>
        <p:spPr>
          <a:xfrm>
            <a:off x="841248" y="3337269"/>
            <a:ext cx="10509504" cy="2905686"/>
          </a:xfrm>
        </p:spPr>
        <p:txBody>
          <a:bodyPr>
            <a:normAutofit/>
          </a:bodyPr>
          <a:lstStyle/>
          <a:p>
            <a:pPr marL="0" indent="0">
              <a:buNone/>
            </a:pPr>
            <a:r>
              <a:rPr lang="en-US" sz="2200" dirty="0">
                <a:solidFill>
                  <a:srgbClr val="FFFFFF"/>
                </a:solidFill>
              </a:rPr>
              <a:t>Once we asked ourselves how do these demographics invest and struggling to find any solid leads, we began to think of how can we assess how these different age groups invest. How far does our data set need to be to obtain an accurate analysis? What assets would be valuable in assessing our data? What should our approach to these data sets be? We concluded that if we create tools that can find the performance, risk, and sentiment of different assets we can better analyze what these age groups would likely want to invest in.  </a:t>
            </a:r>
          </a:p>
        </p:txBody>
      </p:sp>
    </p:spTree>
    <p:extLst>
      <p:ext uri="{BB962C8B-B14F-4D97-AF65-F5344CB8AC3E}">
        <p14:creationId xmlns:p14="http://schemas.microsoft.com/office/powerpoint/2010/main" val="3287526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C30F5-790C-82FE-9431-3335EB32CDD3}"/>
              </a:ext>
            </a:extLst>
          </p:cNvPr>
          <p:cNvSpPr>
            <a:spLocks noGrp="1"/>
          </p:cNvSpPr>
          <p:nvPr>
            <p:ph type="title"/>
          </p:nvPr>
        </p:nvSpPr>
        <p:spPr/>
        <p:txBody>
          <a:bodyPr/>
          <a:lstStyle/>
          <a:p>
            <a:endParaRPr lang="en-US"/>
          </a:p>
        </p:txBody>
      </p:sp>
      <p:pic>
        <p:nvPicPr>
          <p:cNvPr id="5" name="Content Placeholder 4" descr="Graphical user interface, application&#10;&#10;Description automatically generated">
            <a:extLst>
              <a:ext uri="{FF2B5EF4-FFF2-40B4-BE49-F238E27FC236}">
                <a16:creationId xmlns:a16="http://schemas.microsoft.com/office/drawing/2014/main" id="{DCCA4417-F6CA-A44E-7939-6AF90E3B38C6}"/>
              </a:ext>
            </a:extLst>
          </p:cNvPr>
          <p:cNvPicPr>
            <a:picLocks noGrp="1" noChangeAspect="1"/>
          </p:cNvPicPr>
          <p:nvPr>
            <p:ph idx="1"/>
          </p:nvPr>
        </p:nvPicPr>
        <p:blipFill>
          <a:blip r:embed="rId2"/>
          <a:stretch>
            <a:fillRect/>
          </a:stretch>
        </p:blipFill>
        <p:spPr>
          <a:xfrm>
            <a:off x="0" y="0"/>
            <a:ext cx="12192000" cy="6858000"/>
          </a:xfrm>
        </p:spPr>
      </p:pic>
    </p:spTree>
    <p:extLst>
      <p:ext uri="{BB962C8B-B14F-4D97-AF65-F5344CB8AC3E}">
        <p14:creationId xmlns:p14="http://schemas.microsoft.com/office/powerpoint/2010/main" val="88847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0B349-BBD4-5424-4F74-CBCCE961DBA4}"/>
              </a:ext>
            </a:extLst>
          </p:cNvPr>
          <p:cNvSpPr>
            <a:spLocks noGrp="1"/>
          </p:cNvSpPr>
          <p:nvPr>
            <p:ph type="title"/>
          </p:nvPr>
        </p:nvSpPr>
        <p:spPr/>
        <p:txBody>
          <a:bodyPr/>
          <a:lstStyle/>
          <a:p>
            <a:endParaRPr lang="en-US"/>
          </a:p>
        </p:txBody>
      </p:sp>
      <p:pic>
        <p:nvPicPr>
          <p:cNvPr id="5" name="Content Placeholder 4" descr="Graphical user interface, application, Word&#10;&#10;Description automatically generated">
            <a:extLst>
              <a:ext uri="{FF2B5EF4-FFF2-40B4-BE49-F238E27FC236}">
                <a16:creationId xmlns:a16="http://schemas.microsoft.com/office/drawing/2014/main" id="{98917F9B-B248-E637-5A34-5DC65C711267}"/>
              </a:ext>
            </a:extLst>
          </p:cNvPr>
          <p:cNvPicPr>
            <a:picLocks noGrp="1" noChangeAspect="1"/>
          </p:cNvPicPr>
          <p:nvPr>
            <p:ph idx="1"/>
          </p:nvPr>
        </p:nvPicPr>
        <p:blipFill>
          <a:blip r:embed="rId2"/>
          <a:stretch>
            <a:fillRect/>
          </a:stretch>
        </p:blipFill>
        <p:spPr>
          <a:xfrm>
            <a:off x="94395" y="0"/>
            <a:ext cx="12192000" cy="6858000"/>
          </a:xfrm>
        </p:spPr>
      </p:pic>
    </p:spTree>
    <p:extLst>
      <p:ext uri="{BB962C8B-B14F-4D97-AF65-F5344CB8AC3E}">
        <p14:creationId xmlns:p14="http://schemas.microsoft.com/office/powerpoint/2010/main" val="1305323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D77EB-3479-CCE1-F64E-4C65BA369D65}"/>
              </a:ext>
            </a:extLst>
          </p:cNvPr>
          <p:cNvSpPr>
            <a:spLocks noGrp="1"/>
          </p:cNvSpPr>
          <p:nvPr>
            <p:ph type="title"/>
          </p:nvPr>
        </p:nvSpPr>
        <p:spPr/>
        <p:txBody>
          <a:bodyPr/>
          <a:lstStyle/>
          <a:p>
            <a:endParaRPr lang="en-US"/>
          </a:p>
        </p:txBody>
      </p:sp>
      <p:pic>
        <p:nvPicPr>
          <p:cNvPr id="5" name="Content Placeholder 4" descr="Graphical user interface&#10;&#10;Description automatically generated">
            <a:extLst>
              <a:ext uri="{FF2B5EF4-FFF2-40B4-BE49-F238E27FC236}">
                <a16:creationId xmlns:a16="http://schemas.microsoft.com/office/drawing/2014/main" id="{EA44B7B4-26A6-8B4F-A055-E119A3975159}"/>
              </a:ext>
            </a:extLst>
          </p:cNvPr>
          <p:cNvPicPr>
            <a:picLocks noGrp="1" noChangeAspect="1"/>
          </p:cNvPicPr>
          <p:nvPr>
            <p:ph idx="1"/>
          </p:nvPr>
        </p:nvPicPr>
        <p:blipFill>
          <a:blip r:embed="rId2"/>
          <a:stretch>
            <a:fillRect/>
          </a:stretch>
        </p:blipFill>
        <p:spPr>
          <a:xfrm>
            <a:off x="0" y="0"/>
            <a:ext cx="12349655" cy="6946681"/>
          </a:xfrm>
        </p:spPr>
      </p:pic>
    </p:spTree>
    <p:extLst>
      <p:ext uri="{BB962C8B-B14F-4D97-AF65-F5344CB8AC3E}">
        <p14:creationId xmlns:p14="http://schemas.microsoft.com/office/powerpoint/2010/main" val="4220294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1CEE9-5EAE-CD11-E3EC-3294FFD26CB2}"/>
              </a:ext>
            </a:extLst>
          </p:cNvPr>
          <p:cNvSpPr>
            <a:spLocks noGrp="1"/>
          </p:cNvSpPr>
          <p:nvPr>
            <p:ph type="title"/>
          </p:nvPr>
        </p:nvSpPr>
        <p:spPr/>
        <p:txBody>
          <a:bodyPr/>
          <a:lstStyle/>
          <a:p>
            <a:endParaRPr lang="en-US"/>
          </a:p>
        </p:txBody>
      </p:sp>
      <p:pic>
        <p:nvPicPr>
          <p:cNvPr id="5" name="Content Placeholder 4" descr="Graphical user interface, application&#10;&#10;Description automatically generated">
            <a:extLst>
              <a:ext uri="{FF2B5EF4-FFF2-40B4-BE49-F238E27FC236}">
                <a16:creationId xmlns:a16="http://schemas.microsoft.com/office/drawing/2014/main" id="{6AB2F35A-3864-A3F0-A310-30EC45F72CDB}"/>
              </a:ext>
            </a:extLst>
          </p:cNvPr>
          <p:cNvPicPr>
            <a:picLocks noGrp="1" noChangeAspect="1"/>
          </p:cNvPicPr>
          <p:nvPr>
            <p:ph idx="1"/>
          </p:nvPr>
        </p:nvPicPr>
        <p:blipFill>
          <a:blip r:embed="rId2"/>
          <a:stretch>
            <a:fillRect/>
          </a:stretch>
        </p:blipFill>
        <p:spPr>
          <a:xfrm>
            <a:off x="0" y="0"/>
            <a:ext cx="12192000" cy="6858000"/>
          </a:xfrm>
        </p:spPr>
      </p:pic>
    </p:spTree>
    <p:extLst>
      <p:ext uri="{BB962C8B-B14F-4D97-AF65-F5344CB8AC3E}">
        <p14:creationId xmlns:p14="http://schemas.microsoft.com/office/powerpoint/2010/main" val="525698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erson wearing a suit and tie&#10;&#10;Description automatically generated with low confidence">
            <a:extLst>
              <a:ext uri="{FF2B5EF4-FFF2-40B4-BE49-F238E27FC236}">
                <a16:creationId xmlns:a16="http://schemas.microsoft.com/office/drawing/2014/main" id="{18B84A06-C87F-9C13-7E62-B0F153458687}"/>
              </a:ext>
            </a:extLst>
          </p:cNvPr>
          <p:cNvPicPr>
            <a:picLocks noChangeAspect="1"/>
          </p:cNvPicPr>
          <p:nvPr/>
        </p:nvPicPr>
        <p:blipFill rotWithShape="1">
          <a:blip r:embed="rId2"/>
          <a:srcRect l="5065" r="6489" b="-1"/>
          <a:stretch/>
        </p:blipFill>
        <p:spPr>
          <a:xfrm>
            <a:off x="-4" y="0"/>
            <a:ext cx="12191981" cy="6857990"/>
          </a:xfrm>
          <a:prstGeom prst="rect">
            <a:avLst/>
          </a:prstGeom>
        </p:spPr>
      </p:pic>
      <p:sp>
        <p:nvSpPr>
          <p:cNvPr id="12" name="Rectangle 11">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8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5CDCACE-E3E3-A38A-143F-2971709987F0}"/>
              </a:ext>
            </a:extLst>
          </p:cNvPr>
          <p:cNvSpPr>
            <a:spLocks noGrp="1"/>
          </p:cNvSpPr>
          <p:nvPr>
            <p:ph type="ctrTitle"/>
          </p:nvPr>
        </p:nvSpPr>
        <p:spPr>
          <a:xfrm>
            <a:off x="404553" y="3091928"/>
            <a:ext cx="9078562" cy="2387600"/>
          </a:xfrm>
        </p:spPr>
        <p:txBody>
          <a:bodyPr>
            <a:normAutofit/>
          </a:bodyPr>
          <a:lstStyle/>
          <a:p>
            <a:r>
              <a:rPr lang="en-US" sz="6600" dirty="0">
                <a:solidFill>
                  <a:schemeClr val="bg1"/>
                </a:solidFill>
              </a:rPr>
              <a:t>Stock &amp; Crypto Risk Analysis</a:t>
            </a:r>
          </a:p>
        </p:txBody>
      </p:sp>
    </p:spTree>
    <p:extLst>
      <p:ext uri="{BB962C8B-B14F-4D97-AF65-F5344CB8AC3E}">
        <p14:creationId xmlns:p14="http://schemas.microsoft.com/office/powerpoint/2010/main" val="1679276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4">
            <a:extLst>
              <a:ext uri="{FF2B5EF4-FFF2-40B4-BE49-F238E27FC236}">
                <a16:creationId xmlns:a16="http://schemas.microsoft.com/office/drawing/2014/main" id="{21A75659-5A6F-4F77-9679-678A00B9D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picture containing text, factory, building">
            <a:extLst>
              <a:ext uri="{FF2B5EF4-FFF2-40B4-BE49-F238E27FC236}">
                <a16:creationId xmlns:a16="http://schemas.microsoft.com/office/drawing/2014/main" id="{E30A6B9D-1EF9-3F29-89A5-2EF81FB4BF48}"/>
              </a:ext>
            </a:extLst>
          </p:cNvPr>
          <p:cNvPicPr>
            <a:picLocks noChangeAspect="1"/>
          </p:cNvPicPr>
          <p:nvPr/>
        </p:nvPicPr>
        <p:blipFill rotWithShape="1">
          <a:blip r:embed="rId2"/>
          <a:srcRect l="44473" r="8127"/>
          <a:stretch/>
        </p:blipFill>
        <p:spPr>
          <a:xfrm>
            <a:off x="20" y="10"/>
            <a:ext cx="8668492" cy="6857990"/>
          </a:xfrm>
          <a:prstGeom prst="rect">
            <a:avLst/>
          </a:prstGeom>
        </p:spPr>
      </p:pic>
      <p:sp>
        <p:nvSpPr>
          <p:cNvPr id="52" name="Rectangle 46">
            <a:extLst>
              <a:ext uri="{FF2B5EF4-FFF2-40B4-BE49-F238E27FC236}">
                <a16:creationId xmlns:a16="http://schemas.microsoft.com/office/drawing/2014/main" id="{EFAEC92A-2230-45B0-A12F-07F9F9EA45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35399" y="0"/>
            <a:ext cx="9756601" cy="6858000"/>
          </a:xfrm>
          <a:prstGeom prst="rect">
            <a:avLst/>
          </a:prstGeom>
          <a:gradFill>
            <a:gsLst>
              <a:gs pos="53000">
                <a:schemeClr val="bg1"/>
              </a:gs>
              <a:gs pos="35000">
                <a:schemeClr val="bg1">
                  <a:alpha val="76000"/>
                </a:schemeClr>
              </a:gs>
              <a:gs pos="19000">
                <a:schemeClr val="bg1">
                  <a:alpha val="40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99A98FA-699B-5E5A-2B5A-2CB98FBA1574}"/>
              </a:ext>
            </a:extLst>
          </p:cNvPr>
          <p:cNvSpPr>
            <a:spLocks noGrp="1"/>
          </p:cNvSpPr>
          <p:nvPr>
            <p:ph type="title"/>
          </p:nvPr>
        </p:nvSpPr>
        <p:spPr>
          <a:xfrm>
            <a:off x="8395868" y="1161288"/>
            <a:ext cx="3438144" cy="1124712"/>
          </a:xfrm>
        </p:spPr>
        <p:txBody>
          <a:bodyPr vert="horz" lIns="91440" tIns="45720" rIns="91440" bIns="45720" rtlCol="0" anchor="b">
            <a:normAutofit/>
          </a:bodyPr>
          <a:lstStyle/>
          <a:p>
            <a:r>
              <a:rPr lang="en-US" sz="2800" dirty="0"/>
              <a:t>What is risk?</a:t>
            </a:r>
          </a:p>
        </p:txBody>
      </p:sp>
      <p:sp>
        <p:nvSpPr>
          <p:cNvPr id="49" name="Rectangle 48">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87333" y="60579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Rectangle 50">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3018" y="2443480"/>
            <a:ext cx="3218688"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Content Placeholder 32">
            <a:extLst>
              <a:ext uri="{FF2B5EF4-FFF2-40B4-BE49-F238E27FC236}">
                <a16:creationId xmlns:a16="http://schemas.microsoft.com/office/drawing/2014/main" id="{56DAA05A-5403-DB03-253D-05C090C0DDE8}"/>
              </a:ext>
            </a:extLst>
          </p:cNvPr>
          <p:cNvSpPr>
            <a:spLocks noGrp="1"/>
          </p:cNvSpPr>
          <p:nvPr>
            <p:ph idx="1"/>
          </p:nvPr>
        </p:nvSpPr>
        <p:spPr>
          <a:xfrm>
            <a:off x="8395868" y="2718054"/>
            <a:ext cx="3438906" cy="3207258"/>
          </a:xfrm>
        </p:spPr>
        <p:txBody>
          <a:bodyPr anchor="t">
            <a:normAutofit/>
          </a:bodyPr>
          <a:lstStyle/>
          <a:p>
            <a:pPr marL="0" indent="0">
              <a:buNone/>
            </a:pPr>
            <a:r>
              <a:rPr lang="en-US" dirty="0"/>
              <a:t>Risk is the probability of an assets likelihood to gain or lose value based on market volatility.</a:t>
            </a:r>
          </a:p>
        </p:txBody>
      </p:sp>
    </p:spTree>
    <p:extLst>
      <p:ext uri="{BB962C8B-B14F-4D97-AF65-F5344CB8AC3E}">
        <p14:creationId xmlns:p14="http://schemas.microsoft.com/office/powerpoint/2010/main" val="4112491032"/>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19">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lose-up of a drawing&#10;&#10;Description automatically generated with low confidence">
            <a:extLst>
              <a:ext uri="{FF2B5EF4-FFF2-40B4-BE49-F238E27FC236}">
                <a16:creationId xmlns:a16="http://schemas.microsoft.com/office/drawing/2014/main" id="{E7E1C8F5-5970-27EC-D48F-5DD5F4D34EE3}"/>
              </a:ext>
            </a:extLst>
          </p:cNvPr>
          <p:cNvPicPr>
            <a:picLocks noChangeAspect="1"/>
          </p:cNvPicPr>
          <p:nvPr/>
        </p:nvPicPr>
        <p:blipFill rotWithShape="1">
          <a:blip r:embed="rId2"/>
          <a:srcRect l="7809" r="7808" b="-1"/>
          <a:stretch/>
        </p:blipFill>
        <p:spPr>
          <a:xfrm>
            <a:off x="3522466" y="10"/>
            <a:ext cx="8669532" cy="6857990"/>
          </a:xfrm>
          <a:prstGeom prst="rect">
            <a:avLst/>
          </a:prstGeom>
        </p:spPr>
      </p:pic>
      <p:sp>
        <p:nvSpPr>
          <p:cNvPr id="28" name="Rectangle 21">
            <a:extLst>
              <a:ext uri="{FF2B5EF4-FFF2-40B4-BE49-F238E27FC236}">
                <a16:creationId xmlns:a16="http://schemas.microsoft.com/office/drawing/2014/main" id="{8A6DB0E6-E65F-4229-A5A0-2500203B6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A955F03-3FDE-E9F2-206E-0F4673F9AB5D}"/>
              </a:ext>
            </a:extLst>
          </p:cNvPr>
          <p:cNvSpPr>
            <a:spLocks noGrp="1"/>
          </p:cNvSpPr>
          <p:nvPr>
            <p:ph type="title"/>
          </p:nvPr>
        </p:nvSpPr>
        <p:spPr>
          <a:xfrm>
            <a:off x="371094" y="1161288"/>
            <a:ext cx="3438144" cy="1124712"/>
          </a:xfrm>
        </p:spPr>
        <p:txBody>
          <a:bodyPr vert="horz" lIns="91440" tIns="45720" rIns="91440" bIns="45720" rtlCol="0" anchor="b">
            <a:normAutofit/>
          </a:bodyPr>
          <a:lstStyle/>
          <a:p>
            <a:r>
              <a:rPr lang="en-US" sz="2400"/>
              <a:t>Why is understanding risk important to your portfolio? </a:t>
            </a:r>
          </a:p>
        </p:txBody>
      </p:sp>
      <p:sp>
        <p:nvSpPr>
          <p:cNvPr id="29" name="Rectangle 23">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4ECD404E-11DA-2213-9734-DCDCB6B58505}"/>
              </a:ext>
            </a:extLst>
          </p:cNvPr>
          <p:cNvSpPr txBox="1"/>
          <p:nvPr/>
        </p:nvSpPr>
        <p:spPr>
          <a:xfrm>
            <a:off x="290322" y="2770816"/>
            <a:ext cx="3438906" cy="3207258"/>
          </a:xfrm>
          <a:prstGeom prst="rect">
            <a:avLst/>
          </a:prstGeom>
        </p:spPr>
        <p:txBody>
          <a:bodyPr vert="horz" lIns="91440" tIns="45720" rIns="91440" bIns="45720" rtlCol="0" anchor="t">
            <a:normAutofit/>
          </a:bodyPr>
          <a:lstStyle/>
          <a:p>
            <a:pPr>
              <a:lnSpc>
                <a:spcPct val="110000"/>
              </a:lnSpc>
              <a:spcAft>
                <a:spcPts val="600"/>
              </a:spcAft>
            </a:pPr>
            <a:r>
              <a:rPr lang="en-US" sz="1700"/>
              <a:t>Understanding the potential risk of the assets in your portfolio will help you make a more informed decision with how you want to invest. </a:t>
            </a:r>
            <a:endParaRPr lang="en-US" sz="1700" dirty="0"/>
          </a:p>
        </p:txBody>
      </p:sp>
      <p:pic>
        <p:nvPicPr>
          <p:cNvPr id="7" name="Picture 6" descr="Diagram&#10;&#10;Description automatically generated">
            <a:extLst>
              <a:ext uri="{FF2B5EF4-FFF2-40B4-BE49-F238E27FC236}">
                <a16:creationId xmlns:a16="http://schemas.microsoft.com/office/drawing/2014/main" id="{493A115F-9D42-4516-2383-D3428FD7C213}"/>
              </a:ext>
            </a:extLst>
          </p:cNvPr>
          <p:cNvPicPr>
            <a:picLocks noChangeAspect="1"/>
          </p:cNvPicPr>
          <p:nvPr/>
        </p:nvPicPr>
        <p:blipFill>
          <a:blip r:embed="rId3"/>
          <a:stretch>
            <a:fillRect/>
          </a:stretch>
        </p:blipFill>
        <p:spPr>
          <a:xfrm>
            <a:off x="4521224" y="1019399"/>
            <a:ext cx="7723080" cy="4819202"/>
          </a:xfrm>
          <a:prstGeom prst="rect">
            <a:avLst/>
          </a:prstGeom>
        </p:spPr>
      </p:pic>
    </p:spTree>
    <p:extLst>
      <p:ext uri="{BB962C8B-B14F-4D97-AF65-F5344CB8AC3E}">
        <p14:creationId xmlns:p14="http://schemas.microsoft.com/office/powerpoint/2010/main" val="2437097180"/>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3" descr="A colorful light bulb with business icons">
            <a:extLst>
              <a:ext uri="{FF2B5EF4-FFF2-40B4-BE49-F238E27FC236}">
                <a16:creationId xmlns:a16="http://schemas.microsoft.com/office/drawing/2014/main" id="{28AFC8B3-52C3-FB9B-887E-51CF06A62F97}"/>
              </a:ext>
            </a:extLst>
          </p:cNvPr>
          <p:cNvPicPr>
            <a:picLocks noChangeAspect="1"/>
          </p:cNvPicPr>
          <p:nvPr/>
        </p:nvPicPr>
        <p:blipFill rotWithShape="1">
          <a:blip r:embed="rId2"/>
          <a:srcRect l="1668" r="9853" b="1"/>
          <a:stretch/>
        </p:blipFill>
        <p:spPr>
          <a:xfrm>
            <a:off x="3523488" y="10"/>
            <a:ext cx="8668512" cy="6857990"/>
          </a:xfrm>
          <a:prstGeom prst="rect">
            <a:avLst/>
          </a:prstGeom>
        </p:spPr>
      </p:pic>
      <p:sp>
        <p:nvSpPr>
          <p:cNvPr id="17" name="Rectangle 1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6A70706-28CD-3E38-1D60-703B491643FE}"/>
              </a:ext>
            </a:extLst>
          </p:cNvPr>
          <p:cNvSpPr>
            <a:spLocks noGrp="1"/>
          </p:cNvSpPr>
          <p:nvPr>
            <p:ph type="ctrTitle"/>
          </p:nvPr>
        </p:nvSpPr>
        <p:spPr>
          <a:xfrm>
            <a:off x="477981" y="1122363"/>
            <a:ext cx="4023360" cy="3204134"/>
          </a:xfrm>
        </p:spPr>
        <p:txBody>
          <a:bodyPr anchor="b">
            <a:normAutofit/>
          </a:bodyPr>
          <a:lstStyle/>
          <a:p>
            <a:r>
              <a:rPr lang="en-US" sz="4800" dirty="0"/>
              <a:t>Crypto &amp; Stock Sentiment</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5725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AA8BA5D-0063-AFF4-CB80-48B65029FCC2}"/>
              </a:ext>
            </a:extLst>
          </p:cNvPr>
          <p:cNvSpPr>
            <a:spLocks noGrp="1"/>
          </p:cNvSpPr>
          <p:nvPr>
            <p:ph type="title"/>
          </p:nvPr>
        </p:nvSpPr>
        <p:spPr/>
        <p:txBody>
          <a:bodyPr>
            <a:normAutofit fontScale="90000"/>
          </a:bodyPr>
          <a:lstStyle/>
          <a:p>
            <a:r>
              <a:rPr lang="en-US" dirty="0"/>
              <a:t>Before analysis</a:t>
            </a:r>
            <a:br>
              <a:rPr lang="en-US" dirty="0"/>
            </a:br>
            <a:endParaRPr lang="en-US" dirty="0"/>
          </a:p>
        </p:txBody>
      </p:sp>
      <p:sp>
        <p:nvSpPr>
          <p:cNvPr id="6" name="Text Placeholder 5">
            <a:extLst>
              <a:ext uri="{FF2B5EF4-FFF2-40B4-BE49-F238E27FC236}">
                <a16:creationId xmlns:a16="http://schemas.microsoft.com/office/drawing/2014/main" id="{8B54A443-12AB-23EC-3731-1FD5E7E285F0}"/>
              </a:ext>
            </a:extLst>
          </p:cNvPr>
          <p:cNvSpPr>
            <a:spLocks noGrp="1"/>
          </p:cNvSpPr>
          <p:nvPr>
            <p:ph type="body" idx="1"/>
          </p:nvPr>
        </p:nvSpPr>
        <p:spPr/>
        <p:txBody>
          <a:bodyPr/>
          <a:lstStyle/>
          <a:p>
            <a:r>
              <a:rPr lang="en-US" sz="2400" b="1" dirty="0"/>
              <a:t>Risk Profile Ticker </a:t>
            </a:r>
          </a:p>
        </p:txBody>
      </p:sp>
      <p:sp>
        <p:nvSpPr>
          <p:cNvPr id="7" name="Content Placeholder 6">
            <a:extLst>
              <a:ext uri="{FF2B5EF4-FFF2-40B4-BE49-F238E27FC236}">
                <a16:creationId xmlns:a16="http://schemas.microsoft.com/office/drawing/2014/main" id="{EDB1FF2B-A848-011D-FC45-672B03410E8A}"/>
              </a:ext>
            </a:extLst>
          </p:cNvPr>
          <p:cNvSpPr>
            <a:spLocks noGrp="1"/>
          </p:cNvSpPr>
          <p:nvPr>
            <p:ph sz="half" idx="2"/>
          </p:nvPr>
        </p:nvSpPr>
        <p:spPr/>
        <p:txBody>
          <a:bodyPr>
            <a:normAutofit/>
          </a:bodyPr>
          <a:lstStyle/>
          <a:p>
            <a:pPr marL="285750" indent="-285750">
              <a:buFont typeface="Wingdings" pitchFamily="2" charset="2"/>
              <a:buChar char="q"/>
            </a:pPr>
            <a:r>
              <a:rPr lang="en-US" sz="1900" dirty="0"/>
              <a:t>Minimal Risk  </a:t>
            </a:r>
          </a:p>
          <a:p>
            <a:pPr marL="285750" indent="-285750">
              <a:buFont typeface="Wingdings" pitchFamily="2" charset="2"/>
              <a:buChar char="q"/>
            </a:pPr>
            <a:r>
              <a:rPr lang="en-US" sz="1900" dirty="0"/>
              <a:t>Maximum</a:t>
            </a:r>
          </a:p>
          <a:p>
            <a:pPr marL="285750" indent="-285750">
              <a:buFont typeface="Wingdings" pitchFamily="2" charset="2"/>
              <a:buChar char="q"/>
            </a:pPr>
            <a:r>
              <a:rPr lang="en-US" sz="1900" dirty="0"/>
              <a:t>Maximum Risk</a:t>
            </a:r>
          </a:p>
          <a:p>
            <a:pPr marL="285750" indent="-285750">
              <a:buFont typeface="Wingdings" pitchFamily="2" charset="2"/>
              <a:buChar char="q"/>
            </a:pPr>
            <a:r>
              <a:rPr lang="en-US" sz="1900" dirty="0"/>
              <a:t>Maximum Risk</a:t>
            </a:r>
          </a:p>
          <a:p>
            <a:pPr marL="285750" indent="-285750">
              <a:buFont typeface="Wingdings" pitchFamily="2" charset="2"/>
              <a:buChar char="q"/>
            </a:pPr>
            <a:r>
              <a:rPr lang="en-US" sz="1900" dirty="0"/>
              <a:t>Maximum Risk</a:t>
            </a:r>
          </a:p>
          <a:p>
            <a:pPr marL="285750" indent="-285750">
              <a:buFont typeface="Wingdings" pitchFamily="2" charset="2"/>
              <a:buChar char="q"/>
            </a:pPr>
            <a:r>
              <a:rPr lang="en-US" sz="1900" dirty="0"/>
              <a:t>Maximum Risk</a:t>
            </a:r>
          </a:p>
          <a:p>
            <a:endParaRPr lang="en-US" dirty="0"/>
          </a:p>
        </p:txBody>
      </p:sp>
      <p:sp>
        <p:nvSpPr>
          <p:cNvPr id="8" name="Text Placeholder 7">
            <a:extLst>
              <a:ext uri="{FF2B5EF4-FFF2-40B4-BE49-F238E27FC236}">
                <a16:creationId xmlns:a16="http://schemas.microsoft.com/office/drawing/2014/main" id="{59E24D9D-3CEE-B05A-EF22-B716575037EE}"/>
              </a:ext>
            </a:extLst>
          </p:cNvPr>
          <p:cNvSpPr>
            <a:spLocks noGrp="1"/>
          </p:cNvSpPr>
          <p:nvPr>
            <p:ph type="body" sz="quarter" idx="3"/>
          </p:nvPr>
        </p:nvSpPr>
        <p:spPr/>
        <p:txBody>
          <a:bodyPr/>
          <a:lstStyle/>
          <a:p>
            <a:r>
              <a:rPr lang="en-US" sz="2400" b="1" dirty="0"/>
              <a:t>Risk Profile Ticker </a:t>
            </a:r>
          </a:p>
        </p:txBody>
      </p:sp>
      <p:sp>
        <p:nvSpPr>
          <p:cNvPr id="9" name="Content Placeholder 8">
            <a:extLst>
              <a:ext uri="{FF2B5EF4-FFF2-40B4-BE49-F238E27FC236}">
                <a16:creationId xmlns:a16="http://schemas.microsoft.com/office/drawing/2014/main" id="{1339E3BF-0EA3-BFEE-5FFA-1AA59E357707}"/>
              </a:ext>
            </a:extLst>
          </p:cNvPr>
          <p:cNvSpPr>
            <a:spLocks noGrp="1"/>
          </p:cNvSpPr>
          <p:nvPr>
            <p:ph sz="quarter" idx="4"/>
          </p:nvPr>
        </p:nvSpPr>
        <p:spPr/>
        <p:txBody>
          <a:bodyPr>
            <a:normAutofit/>
          </a:bodyPr>
          <a:lstStyle/>
          <a:p>
            <a:r>
              <a:rPr lang="en-US" dirty="0"/>
              <a:t>Minimal Risk stocks have favorable sentiment.</a:t>
            </a:r>
          </a:p>
          <a:p>
            <a:endParaRPr lang="en-US" dirty="0"/>
          </a:p>
          <a:p>
            <a:r>
              <a:rPr lang="en-US" dirty="0"/>
              <a:t>Maximum Risk stocks/ETFs will have negative/less favorable sentiment.</a:t>
            </a:r>
          </a:p>
        </p:txBody>
      </p:sp>
    </p:spTree>
    <p:extLst>
      <p:ext uri="{BB962C8B-B14F-4D97-AF65-F5344CB8AC3E}">
        <p14:creationId xmlns:p14="http://schemas.microsoft.com/office/powerpoint/2010/main" val="515491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EE45F2B-B41A-5BF7-0E3E-89EBC2C9AB15}"/>
              </a:ext>
            </a:extLst>
          </p:cNvPr>
          <p:cNvSpPr>
            <a:spLocks noGrp="1"/>
          </p:cNvSpPr>
          <p:nvPr>
            <p:ph type="title"/>
          </p:nvPr>
        </p:nvSpPr>
        <p:spPr>
          <a:xfrm>
            <a:off x="1115568" y="548640"/>
            <a:ext cx="10168128" cy="806631"/>
          </a:xfrm>
        </p:spPr>
        <p:txBody>
          <a:bodyPr/>
          <a:lstStyle/>
          <a:p>
            <a:r>
              <a:rPr lang="en-US" dirty="0"/>
              <a:t>Stock Sentiment	</a:t>
            </a:r>
          </a:p>
        </p:txBody>
      </p:sp>
      <p:pic>
        <p:nvPicPr>
          <p:cNvPr id="9" name="Content Placeholder 8" descr="Table&#10;&#10;Description automatically generated">
            <a:extLst>
              <a:ext uri="{FF2B5EF4-FFF2-40B4-BE49-F238E27FC236}">
                <a16:creationId xmlns:a16="http://schemas.microsoft.com/office/drawing/2014/main" id="{E4B1304F-D3B3-1599-A020-A786FFEA18A8}"/>
              </a:ext>
            </a:extLst>
          </p:cNvPr>
          <p:cNvPicPr>
            <a:picLocks noGrp="1" noChangeAspect="1"/>
          </p:cNvPicPr>
          <p:nvPr>
            <p:ph sz="half" idx="1"/>
          </p:nvPr>
        </p:nvPicPr>
        <p:blipFill>
          <a:blip r:embed="rId2"/>
          <a:stretch>
            <a:fillRect/>
          </a:stretch>
        </p:blipFill>
        <p:spPr>
          <a:xfrm>
            <a:off x="875210" y="2303082"/>
            <a:ext cx="3851911" cy="1726307"/>
          </a:xfrm>
          <a:ln>
            <a:solidFill>
              <a:srgbClr val="00B0F0"/>
            </a:solidFill>
          </a:ln>
        </p:spPr>
      </p:pic>
      <p:pic>
        <p:nvPicPr>
          <p:cNvPr id="18" name="Content Placeholder 17" descr="A screenshot of a computer&#10;&#10;Description automatically generated with medium confidence">
            <a:extLst>
              <a:ext uri="{FF2B5EF4-FFF2-40B4-BE49-F238E27FC236}">
                <a16:creationId xmlns:a16="http://schemas.microsoft.com/office/drawing/2014/main" id="{1ABCA781-3B76-DA62-7C35-A0579AB2BA92}"/>
              </a:ext>
            </a:extLst>
          </p:cNvPr>
          <p:cNvPicPr>
            <a:picLocks noGrp="1" noChangeAspect="1"/>
          </p:cNvPicPr>
          <p:nvPr>
            <p:ph sz="half" idx="2"/>
          </p:nvPr>
        </p:nvPicPr>
        <p:blipFill>
          <a:blip r:embed="rId3"/>
          <a:stretch>
            <a:fillRect/>
          </a:stretch>
        </p:blipFill>
        <p:spPr>
          <a:xfrm>
            <a:off x="5847933" y="2240280"/>
            <a:ext cx="5719228" cy="4069080"/>
          </a:xfrm>
          <a:ln>
            <a:solidFill>
              <a:srgbClr val="00B0F0"/>
            </a:solidFill>
          </a:ln>
        </p:spPr>
      </p:pic>
      <p:sp>
        <p:nvSpPr>
          <p:cNvPr id="2" name="TextBox 1">
            <a:extLst>
              <a:ext uri="{FF2B5EF4-FFF2-40B4-BE49-F238E27FC236}">
                <a16:creationId xmlns:a16="http://schemas.microsoft.com/office/drawing/2014/main" id="{643702D5-D5BA-2DED-58EF-E3C51C7A9259}"/>
              </a:ext>
            </a:extLst>
          </p:cNvPr>
          <p:cNvSpPr txBox="1"/>
          <p:nvPr/>
        </p:nvSpPr>
        <p:spPr>
          <a:xfrm>
            <a:off x="914400" y="4340888"/>
            <a:ext cx="3668377" cy="2169825"/>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dirty="0"/>
              <a:t>AAPL total avg sentiment = -2</a:t>
            </a:r>
          </a:p>
          <a:p>
            <a:pPr marL="285750" indent="-285750">
              <a:lnSpc>
                <a:spcPct val="150000"/>
              </a:lnSpc>
              <a:buFont typeface="Arial" panose="020B0604020202020204" pitchFamily="34" charset="0"/>
              <a:buChar char="•"/>
            </a:pPr>
            <a:r>
              <a:rPr lang="en-US" dirty="0"/>
              <a:t>SPY total avg sentiment = 3</a:t>
            </a:r>
          </a:p>
          <a:p>
            <a:pPr marL="285750" indent="-285750">
              <a:lnSpc>
                <a:spcPct val="150000"/>
              </a:lnSpc>
              <a:buFont typeface="Arial" panose="020B0604020202020204" pitchFamily="34" charset="0"/>
              <a:buChar char="•"/>
            </a:pPr>
            <a:r>
              <a:rPr lang="en-US" dirty="0"/>
              <a:t>TSLA total avg sentiment = 0</a:t>
            </a:r>
          </a:p>
          <a:p>
            <a:endParaRPr lang="en-US" dirty="0"/>
          </a:p>
          <a:p>
            <a:endParaRPr lang="en-US" dirty="0"/>
          </a:p>
          <a:p>
            <a:r>
              <a:rPr lang="en-US" dirty="0"/>
              <a:t> </a:t>
            </a:r>
          </a:p>
        </p:txBody>
      </p:sp>
    </p:spTree>
    <p:extLst>
      <p:ext uri="{BB962C8B-B14F-4D97-AF65-F5344CB8AC3E}">
        <p14:creationId xmlns:p14="http://schemas.microsoft.com/office/powerpoint/2010/main" val="73175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C16E9-F549-46E4-B510-32B5AC0AB837}"/>
              </a:ext>
            </a:extLst>
          </p:cNvPr>
          <p:cNvSpPr>
            <a:spLocks noGrp="1"/>
          </p:cNvSpPr>
          <p:nvPr>
            <p:ph type="title"/>
          </p:nvPr>
        </p:nvSpPr>
        <p:spPr>
          <a:ln>
            <a:solidFill>
              <a:schemeClr val="tx1"/>
            </a:solidFill>
          </a:ln>
        </p:spPr>
        <p:txBody>
          <a:bodyPr/>
          <a:lstStyle/>
          <a:p>
            <a:r>
              <a:rPr lang="en-US" dirty="0"/>
              <a:t>TSLA </a:t>
            </a:r>
          </a:p>
        </p:txBody>
      </p:sp>
      <p:pic>
        <p:nvPicPr>
          <p:cNvPr id="10" name="Content Placeholder 9" descr="Text&#10;&#10;Description automatically generated with medium confidence">
            <a:extLst>
              <a:ext uri="{FF2B5EF4-FFF2-40B4-BE49-F238E27FC236}">
                <a16:creationId xmlns:a16="http://schemas.microsoft.com/office/drawing/2014/main" id="{0A12A744-787C-502E-3D72-EC2C87AF9747}"/>
              </a:ext>
            </a:extLst>
          </p:cNvPr>
          <p:cNvPicPr>
            <a:picLocks noGrp="1" noChangeAspect="1"/>
          </p:cNvPicPr>
          <p:nvPr>
            <p:ph sz="half" idx="1"/>
          </p:nvPr>
        </p:nvPicPr>
        <p:blipFill>
          <a:blip r:embed="rId2"/>
          <a:stretch>
            <a:fillRect/>
          </a:stretch>
        </p:blipFill>
        <p:spPr>
          <a:xfrm>
            <a:off x="5991424" y="2182431"/>
            <a:ext cx="5292272" cy="1428929"/>
          </a:xfrm>
        </p:spPr>
      </p:pic>
      <p:pic>
        <p:nvPicPr>
          <p:cNvPr id="4" name="Picture 3" descr="Graphical user interface, text, application, email&#10;&#10;Description automatically generated">
            <a:extLst>
              <a:ext uri="{FF2B5EF4-FFF2-40B4-BE49-F238E27FC236}">
                <a16:creationId xmlns:a16="http://schemas.microsoft.com/office/drawing/2014/main" id="{4EFCB1CA-585D-355E-2437-5521FBD9D404}"/>
              </a:ext>
            </a:extLst>
          </p:cNvPr>
          <p:cNvPicPr>
            <a:picLocks noChangeAspect="1"/>
          </p:cNvPicPr>
          <p:nvPr/>
        </p:nvPicPr>
        <p:blipFill>
          <a:blip r:embed="rId3"/>
          <a:stretch>
            <a:fillRect/>
          </a:stretch>
        </p:blipFill>
        <p:spPr>
          <a:xfrm>
            <a:off x="7225694" y="4587957"/>
            <a:ext cx="2814531" cy="2044700"/>
          </a:xfrm>
          <a:prstGeom prst="rect">
            <a:avLst/>
          </a:prstGeom>
        </p:spPr>
      </p:pic>
      <p:pic>
        <p:nvPicPr>
          <p:cNvPr id="8" name="Content Placeholder 7" descr="Chart, scatter chart&#10;&#10;Description automatically generated">
            <a:extLst>
              <a:ext uri="{FF2B5EF4-FFF2-40B4-BE49-F238E27FC236}">
                <a16:creationId xmlns:a16="http://schemas.microsoft.com/office/drawing/2014/main" id="{885F4973-A4E5-5D65-666A-5FE3CBB864B0}"/>
              </a:ext>
            </a:extLst>
          </p:cNvPr>
          <p:cNvPicPr>
            <a:picLocks noGrp="1" noChangeAspect="1"/>
          </p:cNvPicPr>
          <p:nvPr>
            <p:ph sz="half" idx="2"/>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2371476" y="3861195"/>
            <a:ext cx="4771525" cy="2754489"/>
          </a:xfrm>
          <a:ln>
            <a:solidFill>
              <a:srgbClr val="00B0F0"/>
            </a:solidFill>
          </a:ln>
        </p:spPr>
      </p:pic>
      <p:sp>
        <p:nvSpPr>
          <p:cNvPr id="11" name="TextBox 10">
            <a:extLst>
              <a:ext uri="{FF2B5EF4-FFF2-40B4-BE49-F238E27FC236}">
                <a16:creationId xmlns:a16="http://schemas.microsoft.com/office/drawing/2014/main" id="{C454CADC-2E79-9DBD-523A-4D7EC45D2648}"/>
              </a:ext>
            </a:extLst>
          </p:cNvPr>
          <p:cNvSpPr txBox="1"/>
          <p:nvPr/>
        </p:nvSpPr>
        <p:spPr>
          <a:xfrm>
            <a:off x="782053" y="2225842"/>
            <a:ext cx="4741683" cy="1200329"/>
          </a:xfrm>
          <a:prstGeom prst="rect">
            <a:avLst/>
          </a:prstGeom>
          <a:noFill/>
          <a:ln>
            <a:solidFill>
              <a:srgbClr val="00B0F0"/>
            </a:solidFill>
          </a:ln>
        </p:spPr>
        <p:txBody>
          <a:bodyPr wrap="none" rtlCol="0">
            <a:spAutoFit/>
          </a:bodyPr>
          <a:lstStyle/>
          <a:p>
            <a:pPr marL="285750" indent="-285750">
              <a:buFont typeface="Arial" panose="020B0604020202020204" pitchFamily="34" charset="0"/>
              <a:buChar char="•"/>
            </a:pPr>
            <a:r>
              <a:rPr lang="en-US" dirty="0"/>
              <a:t>The highest sentiment was during TSLA</a:t>
            </a:r>
          </a:p>
          <a:p>
            <a:r>
              <a:rPr lang="en-US" dirty="0"/>
              <a:t>stock split.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Lowest sentiment – Jan 2023.  </a:t>
            </a:r>
          </a:p>
        </p:txBody>
      </p:sp>
      <p:cxnSp>
        <p:nvCxnSpPr>
          <p:cNvPr id="14" name="Straight Arrow Connector 13">
            <a:extLst>
              <a:ext uri="{FF2B5EF4-FFF2-40B4-BE49-F238E27FC236}">
                <a16:creationId xmlns:a16="http://schemas.microsoft.com/office/drawing/2014/main" id="{1A84B6FB-8E38-845C-067F-A773FFD39918}"/>
              </a:ext>
            </a:extLst>
          </p:cNvPr>
          <p:cNvCxnSpPr>
            <a:cxnSpLocks/>
          </p:cNvCxnSpPr>
          <p:nvPr/>
        </p:nvCxnSpPr>
        <p:spPr>
          <a:xfrm>
            <a:off x="1540042" y="3429000"/>
            <a:ext cx="1263316" cy="24063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3DD7C65-BA7A-2C87-CF0F-AEA09023A9B7}"/>
              </a:ext>
            </a:extLst>
          </p:cNvPr>
          <p:cNvCxnSpPr>
            <a:cxnSpLocks/>
          </p:cNvCxnSpPr>
          <p:nvPr/>
        </p:nvCxnSpPr>
        <p:spPr>
          <a:xfrm>
            <a:off x="5076087" y="2617455"/>
            <a:ext cx="1279083" cy="1888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Left Brace 15">
            <a:extLst>
              <a:ext uri="{FF2B5EF4-FFF2-40B4-BE49-F238E27FC236}">
                <a16:creationId xmlns:a16="http://schemas.microsoft.com/office/drawing/2014/main" id="{D3534D21-F450-06E0-F1F1-C200CE36E696}"/>
              </a:ext>
            </a:extLst>
          </p:cNvPr>
          <p:cNvSpPr/>
          <p:nvPr/>
        </p:nvSpPr>
        <p:spPr>
          <a:xfrm rot="4822873">
            <a:off x="6232356" y="4473340"/>
            <a:ext cx="452174" cy="52002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349456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FF70039-EDAA-9B28-936A-10853C4FA843}"/>
              </a:ext>
            </a:extLst>
          </p:cNvPr>
          <p:cNvSpPr>
            <a:spLocks noGrp="1"/>
          </p:cNvSpPr>
          <p:nvPr>
            <p:ph type="title"/>
          </p:nvPr>
        </p:nvSpPr>
        <p:spPr/>
        <p:txBody>
          <a:bodyPr/>
          <a:lstStyle/>
          <a:p>
            <a:r>
              <a:rPr lang="en-US" dirty="0"/>
              <a:t>Risk &amp; Sentiment</a:t>
            </a:r>
          </a:p>
        </p:txBody>
      </p:sp>
      <p:sp>
        <p:nvSpPr>
          <p:cNvPr id="7" name="Text Placeholder 6">
            <a:extLst>
              <a:ext uri="{FF2B5EF4-FFF2-40B4-BE49-F238E27FC236}">
                <a16:creationId xmlns:a16="http://schemas.microsoft.com/office/drawing/2014/main" id="{CBC83876-A0EE-F94E-3340-AE0838D542E4}"/>
              </a:ext>
            </a:extLst>
          </p:cNvPr>
          <p:cNvSpPr>
            <a:spLocks noGrp="1"/>
          </p:cNvSpPr>
          <p:nvPr>
            <p:ph type="body" sz="half" idx="2"/>
          </p:nvPr>
        </p:nvSpPr>
        <p:spPr>
          <a:ln>
            <a:solidFill>
              <a:srgbClr val="00B0F0"/>
            </a:solidFill>
          </a:ln>
        </p:spPr>
        <p:txBody>
          <a:bodyPr>
            <a:normAutofit fontScale="85000" lnSpcReduction="20000"/>
          </a:bodyPr>
          <a:lstStyle/>
          <a:p>
            <a:r>
              <a:rPr lang="en-US" sz="1600" b="1" dirty="0"/>
              <a:t>Risk Profile Ticker </a:t>
            </a:r>
          </a:p>
          <a:p>
            <a:pPr marL="285750" indent="-285750">
              <a:buFont typeface="Wingdings" pitchFamily="2" charset="2"/>
              <a:buChar char="q"/>
            </a:pPr>
            <a:r>
              <a:rPr lang="en-US" sz="1400" dirty="0"/>
              <a:t>Minimal Risk AAPL </a:t>
            </a:r>
          </a:p>
          <a:p>
            <a:pPr marL="285750" indent="-285750">
              <a:buFont typeface="Wingdings" pitchFamily="2" charset="2"/>
              <a:buChar char="q"/>
            </a:pPr>
            <a:r>
              <a:rPr lang="en-US" sz="1400" dirty="0"/>
              <a:t>Maximum ADA </a:t>
            </a:r>
          </a:p>
          <a:p>
            <a:pPr marL="285750" indent="-285750">
              <a:buFont typeface="Wingdings" pitchFamily="2" charset="2"/>
              <a:buChar char="q"/>
            </a:pPr>
            <a:r>
              <a:rPr lang="en-US" sz="1400" dirty="0"/>
              <a:t>Maximum Risk BTC </a:t>
            </a:r>
          </a:p>
          <a:p>
            <a:pPr marL="285750" indent="-285750">
              <a:buFont typeface="Wingdings" pitchFamily="2" charset="2"/>
              <a:buChar char="q"/>
            </a:pPr>
            <a:r>
              <a:rPr lang="en-US" sz="1400" dirty="0"/>
              <a:t>Maximum Risk ETH </a:t>
            </a:r>
          </a:p>
          <a:p>
            <a:pPr marL="285750" indent="-285750">
              <a:buFont typeface="Wingdings" pitchFamily="2" charset="2"/>
              <a:buChar char="q"/>
            </a:pPr>
            <a:r>
              <a:rPr lang="en-US" sz="1400" dirty="0"/>
              <a:t>Maximum Risk SPY </a:t>
            </a:r>
          </a:p>
          <a:p>
            <a:pPr marL="285750" indent="-285750">
              <a:buFont typeface="Wingdings" pitchFamily="2" charset="2"/>
              <a:buChar char="q"/>
            </a:pPr>
            <a:r>
              <a:rPr lang="en-US" sz="1400" dirty="0"/>
              <a:t>Maximum Risk TSLA</a:t>
            </a:r>
          </a:p>
        </p:txBody>
      </p:sp>
      <p:sp>
        <p:nvSpPr>
          <p:cNvPr id="8" name="TextBox 7">
            <a:extLst>
              <a:ext uri="{FF2B5EF4-FFF2-40B4-BE49-F238E27FC236}">
                <a16:creationId xmlns:a16="http://schemas.microsoft.com/office/drawing/2014/main" id="{26FB0A02-8680-8127-95CD-2F893D689B45}"/>
              </a:ext>
            </a:extLst>
          </p:cNvPr>
          <p:cNvSpPr txBox="1"/>
          <p:nvPr/>
        </p:nvSpPr>
        <p:spPr>
          <a:xfrm>
            <a:off x="4761746" y="1144443"/>
            <a:ext cx="6561574" cy="4431983"/>
          </a:xfrm>
          <a:prstGeom prst="rect">
            <a:avLst/>
          </a:prstGeom>
          <a:noFill/>
          <a:ln>
            <a:solidFill>
              <a:schemeClr val="tx1"/>
            </a:solidFill>
          </a:ln>
        </p:spPr>
        <p:txBody>
          <a:bodyPr wrap="square" rtlCol="0">
            <a:spAutoFit/>
          </a:bodyPr>
          <a:lstStyle/>
          <a:p>
            <a:r>
              <a:rPr lang="en-US" sz="2400" b="1" dirty="0"/>
              <a:t>Findings After Analysis:</a:t>
            </a:r>
          </a:p>
          <a:p>
            <a:endParaRPr lang="en-US" sz="2400" b="1" dirty="0"/>
          </a:p>
          <a:p>
            <a:endParaRPr lang="en-US" dirty="0"/>
          </a:p>
          <a:p>
            <a:pPr marL="285750" indent="-285750">
              <a:buFont typeface="Arial" panose="020B0604020202020204" pitchFamily="34" charset="0"/>
              <a:buChar char="•"/>
            </a:pPr>
            <a:r>
              <a:rPr lang="en-US" dirty="0"/>
              <a:t>Sentiment Analysis can be used as a technical trigger to invest or purchase options contracts.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Minimal Risk stocks have less favorable market sentiment.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Maximum Risk stocks have high sentiment.</a:t>
            </a:r>
          </a:p>
          <a:p>
            <a:endParaRPr lang="en-US" dirty="0"/>
          </a:p>
          <a:p>
            <a:endParaRPr lang="en-US" dirty="0"/>
          </a:p>
          <a:p>
            <a:pPr marL="285750" indent="-285750">
              <a:buFont typeface="Arial" panose="020B0604020202020204" pitchFamily="34" charset="0"/>
              <a:buChar char="•"/>
            </a:pPr>
            <a:endParaRPr lang="en-US" dirty="0"/>
          </a:p>
          <a:p>
            <a:endParaRPr lang="en-US" dirty="0"/>
          </a:p>
          <a:p>
            <a:endParaRPr lang="en-US" dirty="0"/>
          </a:p>
        </p:txBody>
      </p:sp>
    </p:spTree>
    <p:extLst>
      <p:ext uri="{BB962C8B-B14F-4D97-AF65-F5344CB8AC3E}">
        <p14:creationId xmlns:p14="http://schemas.microsoft.com/office/powerpoint/2010/main" val="3884360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Rectangle 17">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picture containing text&#10;&#10;Description automatically generated">
            <a:extLst>
              <a:ext uri="{FF2B5EF4-FFF2-40B4-BE49-F238E27FC236}">
                <a16:creationId xmlns:a16="http://schemas.microsoft.com/office/drawing/2014/main" id="{19B0B5F7-CABD-EED7-118C-D716E61E0027}"/>
              </a:ext>
            </a:extLst>
          </p:cNvPr>
          <p:cNvPicPr>
            <a:picLocks noGrp="1" noChangeAspect="1"/>
          </p:cNvPicPr>
          <p:nvPr>
            <p:ph idx="1"/>
          </p:nvPr>
        </p:nvPicPr>
        <p:blipFill rotWithShape="1">
          <a:blip r:embed="rId3"/>
          <a:srcRect l="6667"/>
          <a:stretch/>
        </p:blipFill>
        <p:spPr>
          <a:xfrm>
            <a:off x="0" y="10"/>
            <a:ext cx="12191980" cy="6857990"/>
          </a:xfrm>
          <a:prstGeom prst="rect">
            <a:avLst/>
          </a:prstGeom>
        </p:spPr>
      </p:pic>
      <p:sp>
        <p:nvSpPr>
          <p:cNvPr id="20" name="Rectangle 19">
            <a:extLst>
              <a:ext uri="{FF2B5EF4-FFF2-40B4-BE49-F238E27FC236}">
                <a16:creationId xmlns:a16="http://schemas.microsoft.com/office/drawing/2014/main" id="{A44CD100-6267-4E62-AA64-2182A3A6A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alpha val="30000"/>
                </a:schemeClr>
              </a:gs>
              <a:gs pos="33000">
                <a:schemeClr val="tx1">
                  <a:alpha val="20000"/>
                </a:schemeClr>
              </a:gs>
              <a:gs pos="0">
                <a:schemeClr val="tx1">
                  <a:alpha val="0"/>
                </a:schemeClr>
              </a:gs>
              <a:gs pos="100000">
                <a:schemeClr val="tx1">
                  <a:alpha val="3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FF64B78-1949-9CAC-336A-B44A2155F75B}"/>
              </a:ext>
            </a:extLst>
          </p:cNvPr>
          <p:cNvSpPr>
            <a:spLocks noGrp="1"/>
          </p:cNvSpPr>
          <p:nvPr>
            <p:ph type="title"/>
          </p:nvPr>
        </p:nvSpPr>
        <p:spPr>
          <a:xfrm>
            <a:off x="435309" y="178667"/>
            <a:ext cx="4023360" cy="3204134"/>
          </a:xfrm>
        </p:spPr>
        <p:txBody>
          <a:bodyPr vert="horz" lIns="91440" tIns="45720" rIns="91440" bIns="45720" rtlCol="0" anchor="b">
            <a:normAutofit/>
          </a:bodyPr>
          <a:lstStyle/>
          <a:p>
            <a:r>
              <a:rPr lang="en-US" sz="4800" dirty="0">
                <a:solidFill>
                  <a:schemeClr val="bg1"/>
                </a:solidFill>
              </a:rPr>
              <a:t>What we found after researching</a:t>
            </a:r>
          </a:p>
        </p:txBody>
      </p:sp>
      <p:sp>
        <p:nvSpPr>
          <p:cNvPr id="22" name="Rectangle 2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217F40AD-C7E2-A870-E36F-323A98F3C772}"/>
              </a:ext>
            </a:extLst>
          </p:cNvPr>
          <p:cNvSpPr txBox="1"/>
          <p:nvPr/>
        </p:nvSpPr>
        <p:spPr>
          <a:xfrm>
            <a:off x="4573694" y="4647401"/>
            <a:ext cx="7039654" cy="1785104"/>
          </a:xfrm>
          <a:prstGeom prst="rect">
            <a:avLst/>
          </a:prstGeom>
          <a:noFill/>
        </p:spPr>
        <p:txBody>
          <a:bodyPr wrap="square" rtlCol="0">
            <a:spAutoFit/>
          </a:bodyPr>
          <a:lstStyle/>
          <a:p>
            <a:r>
              <a:rPr lang="en-US" sz="2200" dirty="0">
                <a:solidFill>
                  <a:schemeClr val="bg1"/>
                </a:solidFill>
              </a:rPr>
              <a:t>Creating tools that could be used to better to evaluate assets was a much more effective method to articulate why and where specific demographics should invest in, rather than simply “how” they invest in themselves.</a:t>
            </a:r>
          </a:p>
        </p:txBody>
      </p:sp>
    </p:spTree>
    <p:extLst>
      <p:ext uri="{BB962C8B-B14F-4D97-AF65-F5344CB8AC3E}">
        <p14:creationId xmlns:p14="http://schemas.microsoft.com/office/powerpoint/2010/main" val="4143525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F44879F-6698-4394-89D4-7B3CDB92E9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a:extLst>
              <a:ext uri="{FF2B5EF4-FFF2-40B4-BE49-F238E27FC236}">
                <a16:creationId xmlns:a16="http://schemas.microsoft.com/office/drawing/2014/main" id="{C65FD3B2-577C-49A0-B40E-4845C5D597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pic>
        <p:nvPicPr>
          <p:cNvPr id="5" name="Picture 4" descr="Text&#10;&#10;Description automatically generated with medium confidence">
            <a:extLst>
              <a:ext uri="{FF2B5EF4-FFF2-40B4-BE49-F238E27FC236}">
                <a16:creationId xmlns:a16="http://schemas.microsoft.com/office/drawing/2014/main" id="{66C056BB-CC93-81B8-3E6F-D2DD8737D9C8}"/>
              </a:ext>
            </a:extLst>
          </p:cNvPr>
          <p:cNvPicPr>
            <a:picLocks noChangeAspect="1"/>
          </p:cNvPicPr>
          <p:nvPr/>
        </p:nvPicPr>
        <p:blipFill rotWithShape="1">
          <a:blip r:embed="rId2">
            <a:alphaModFix amt="40000"/>
          </a:blip>
          <a:srcRect t="7253" b="17747"/>
          <a:stretch/>
        </p:blipFill>
        <p:spPr>
          <a:xfrm>
            <a:off x="20" y="10"/>
            <a:ext cx="12191979" cy="6857990"/>
          </a:xfrm>
          <a:prstGeom prst="rect">
            <a:avLst/>
          </a:prstGeom>
        </p:spPr>
      </p:pic>
      <p:sp>
        <p:nvSpPr>
          <p:cNvPr id="2" name="Title 1">
            <a:extLst>
              <a:ext uri="{FF2B5EF4-FFF2-40B4-BE49-F238E27FC236}">
                <a16:creationId xmlns:a16="http://schemas.microsoft.com/office/drawing/2014/main" id="{7A81F67C-1F3D-77FA-2485-678D4BFAE422}"/>
              </a:ext>
            </a:extLst>
          </p:cNvPr>
          <p:cNvSpPr>
            <a:spLocks noGrp="1"/>
          </p:cNvSpPr>
          <p:nvPr>
            <p:ph type="title"/>
          </p:nvPr>
        </p:nvSpPr>
        <p:spPr>
          <a:xfrm>
            <a:off x="841248" y="426720"/>
            <a:ext cx="10506456" cy="1919141"/>
          </a:xfrm>
        </p:spPr>
        <p:txBody>
          <a:bodyPr anchor="b">
            <a:normAutofit/>
          </a:bodyPr>
          <a:lstStyle/>
          <a:p>
            <a:r>
              <a:rPr lang="en-US" sz="6000" dirty="0">
                <a:solidFill>
                  <a:srgbClr val="FFFFFF"/>
                </a:solidFill>
              </a:rPr>
              <a:t>Summary	</a:t>
            </a:r>
          </a:p>
        </p:txBody>
      </p:sp>
      <p:sp>
        <p:nvSpPr>
          <p:cNvPr id="14" name="Rectangle 13">
            <a:extLst>
              <a:ext uri="{FF2B5EF4-FFF2-40B4-BE49-F238E27FC236}">
                <a16:creationId xmlns:a16="http://schemas.microsoft.com/office/drawing/2014/main" id="{7A0B5DEA-ADF6-4BA5-9307-147F0A468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8680" y="2898648"/>
            <a:ext cx="10506456" cy="18288"/>
          </a:xfrm>
          <a:prstGeom prst="rect">
            <a:avLst/>
          </a:prstGeom>
          <a:solidFill>
            <a:srgbClr val="FFFF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83982"/>
            <a:ext cx="1873457"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595031D-7B73-64B5-1E8E-CE5514048B41}"/>
              </a:ext>
            </a:extLst>
          </p:cNvPr>
          <p:cNvSpPr>
            <a:spLocks noGrp="1"/>
          </p:cNvSpPr>
          <p:nvPr>
            <p:ph idx="1"/>
          </p:nvPr>
        </p:nvSpPr>
        <p:spPr>
          <a:xfrm>
            <a:off x="841248" y="3337269"/>
            <a:ext cx="10509504" cy="2905686"/>
          </a:xfrm>
        </p:spPr>
        <p:txBody>
          <a:bodyPr>
            <a:noAutofit/>
          </a:bodyPr>
          <a:lstStyle/>
          <a:p>
            <a:r>
              <a:rPr lang="en-US" sz="2500" b="0" i="0" dirty="0">
                <a:solidFill>
                  <a:srgbClr val="FFFFFF"/>
                </a:solidFill>
                <a:effectLst/>
                <a:latin typeface="Times New Roman" panose="02020603050405020304" pitchFamily="18" charset="0"/>
                <a:cs typeface="Times New Roman" panose="02020603050405020304" pitchFamily="18" charset="0"/>
              </a:rPr>
              <a:t>We begin by analyzing the historical performance data from 2022 into 2023, using an various sources. Following this, we simulate a portfolio investing $10k at the beginning of the year to verify performance. After we have a sense of market performance, the portfolio is assigned a risk profile that can be checked against our client's risk tolerance. Finally, we analyze current market sentiment and gauge the confidence levels of traders and investors for the crypto and stock markets.</a:t>
            </a:r>
            <a:endParaRPr lang="en-US" sz="25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8739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Icon&#10;&#10;Description automatically generated">
            <a:extLst>
              <a:ext uri="{FF2B5EF4-FFF2-40B4-BE49-F238E27FC236}">
                <a16:creationId xmlns:a16="http://schemas.microsoft.com/office/drawing/2014/main" id="{F50DA787-F8C1-EC6F-ACBE-7CB2F2295249}"/>
              </a:ext>
            </a:extLst>
          </p:cNvPr>
          <p:cNvPicPr>
            <a:picLocks noChangeAspect="1"/>
          </p:cNvPicPr>
          <p:nvPr/>
        </p:nvPicPr>
        <p:blipFill rotWithShape="1">
          <a:blip r:embed="rId2">
            <a:alphaModFix amt="40000"/>
          </a:blip>
          <a:srcRect t="20922" b="16578"/>
          <a:stretch/>
        </p:blipFill>
        <p:spPr>
          <a:xfrm>
            <a:off x="20" y="10"/>
            <a:ext cx="12191979" cy="6857990"/>
          </a:xfrm>
          <a:prstGeom prst="rect">
            <a:avLst/>
          </a:prstGeom>
        </p:spPr>
      </p:pic>
      <p:sp>
        <p:nvSpPr>
          <p:cNvPr id="2" name="Title 1">
            <a:extLst>
              <a:ext uri="{FF2B5EF4-FFF2-40B4-BE49-F238E27FC236}">
                <a16:creationId xmlns:a16="http://schemas.microsoft.com/office/drawing/2014/main" id="{627579D3-120A-81B2-2F11-3FEB0B87059D}"/>
              </a:ext>
            </a:extLst>
          </p:cNvPr>
          <p:cNvSpPr>
            <a:spLocks noGrp="1"/>
          </p:cNvSpPr>
          <p:nvPr>
            <p:ph type="title"/>
          </p:nvPr>
        </p:nvSpPr>
        <p:spPr>
          <a:xfrm>
            <a:off x="841249" y="941832"/>
            <a:ext cx="10506456" cy="2057400"/>
          </a:xfrm>
        </p:spPr>
        <p:txBody>
          <a:bodyPr anchor="b">
            <a:normAutofit/>
          </a:bodyPr>
          <a:lstStyle/>
          <a:p>
            <a:r>
              <a:rPr lang="en-US" sz="5000" dirty="0"/>
              <a:t>Sources</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0015BFA-9688-CA04-AD6D-A6F3120B82ED}"/>
              </a:ext>
            </a:extLst>
          </p:cNvPr>
          <p:cNvSpPr>
            <a:spLocks noGrp="1"/>
          </p:cNvSpPr>
          <p:nvPr>
            <p:ph idx="1"/>
          </p:nvPr>
        </p:nvSpPr>
        <p:spPr>
          <a:xfrm>
            <a:off x="841248" y="3502152"/>
            <a:ext cx="10506456" cy="2670048"/>
          </a:xfrm>
        </p:spPr>
        <p:txBody>
          <a:bodyPr>
            <a:normAutofit fontScale="92500" lnSpcReduction="20000"/>
          </a:bodyPr>
          <a:lstStyle/>
          <a:p>
            <a:pPr>
              <a:lnSpc>
                <a:spcPct val="100000"/>
              </a:lnSpc>
            </a:pPr>
            <a:r>
              <a:rPr lang="en-US" sz="1200" dirty="0"/>
              <a:t>Kaggle: https://www.kaggle.com/</a:t>
            </a:r>
          </a:p>
          <a:p>
            <a:pPr>
              <a:lnSpc>
                <a:spcPct val="100000"/>
              </a:lnSpc>
            </a:pPr>
            <a:r>
              <a:rPr lang="en-US" sz="1200" dirty="0" err="1"/>
              <a:t>Historic_Crypto</a:t>
            </a:r>
            <a:r>
              <a:rPr lang="en-US" sz="1200" dirty="0"/>
              <a:t> API: </a:t>
            </a:r>
            <a:r>
              <a:rPr lang="en-US" sz="1200" dirty="0">
                <a:hlinkClick r:id="rId3"/>
              </a:rPr>
              <a:t>https://pypi.org/project/Historic-Crypto/</a:t>
            </a:r>
            <a:endParaRPr lang="en-US" sz="1200" dirty="0"/>
          </a:p>
          <a:p>
            <a:pPr>
              <a:lnSpc>
                <a:spcPct val="100000"/>
              </a:lnSpc>
            </a:pPr>
            <a:r>
              <a:rPr lang="en-US" sz="1200" dirty="0"/>
              <a:t>Pandas: </a:t>
            </a:r>
            <a:r>
              <a:rPr lang="en-US" sz="1200" dirty="0">
                <a:hlinkClick r:id="rId4"/>
              </a:rPr>
              <a:t>https://pandas.pydata.org/docs/</a:t>
            </a:r>
            <a:endParaRPr lang="en-US" sz="1200" dirty="0"/>
          </a:p>
          <a:p>
            <a:pPr>
              <a:lnSpc>
                <a:spcPct val="100000"/>
              </a:lnSpc>
            </a:pPr>
            <a:r>
              <a:rPr lang="en-US" sz="1200" dirty="0"/>
              <a:t>Relative Risk theory: </a:t>
            </a:r>
            <a:r>
              <a:rPr lang="en-US" sz="1200" dirty="0">
                <a:hlinkClick r:id="rId5"/>
              </a:rPr>
              <a:t>Link</a:t>
            </a:r>
            <a:endParaRPr lang="en-US" sz="1200" dirty="0"/>
          </a:p>
          <a:p>
            <a:pPr>
              <a:lnSpc>
                <a:spcPct val="100000"/>
              </a:lnSpc>
            </a:pPr>
            <a:r>
              <a:rPr lang="en-US" sz="1200" dirty="0"/>
              <a:t>Investopedia: </a:t>
            </a:r>
            <a:r>
              <a:rPr lang="en-US" sz="1200" dirty="0">
                <a:hlinkClick r:id="rId6"/>
              </a:rPr>
              <a:t>https://www.investopedia.com/terms/r/risk-analysis.asp</a:t>
            </a:r>
            <a:endParaRPr lang="en-US" sz="1200" dirty="0"/>
          </a:p>
          <a:p>
            <a:pPr>
              <a:lnSpc>
                <a:spcPct val="100000"/>
              </a:lnSpc>
            </a:pPr>
            <a:r>
              <a:rPr lang="en-US" sz="1200" dirty="0">
                <a:hlinkClick r:id="rId7"/>
              </a:rPr>
              <a:t>https://codelabs.developers.google.com/codelabs/cloud-natural-language-python3#7</a:t>
            </a:r>
            <a:endParaRPr lang="en-US" sz="1200" dirty="0"/>
          </a:p>
          <a:p>
            <a:pPr>
              <a:lnSpc>
                <a:spcPct val="100000"/>
              </a:lnSpc>
            </a:pPr>
            <a:r>
              <a:rPr lang="en-US" sz="1200" dirty="0" err="1"/>
              <a:t>Gcloud</a:t>
            </a:r>
            <a:r>
              <a:rPr lang="en-US" sz="1200" dirty="0"/>
              <a:t> Google Cloud: </a:t>
            </a:r>
            <a:r>
              <a:rPr lang="en-US" sz="1200" dirty="0">
                <a:hlinkClick r:id="rId8"/>
              </a:rPr>
              <a:t>https://console.cloud.google.com/apis/library?project=sentimentandrisk&amp;cloudshell=true</a:t>
            </a:r>
            <a:endParaRPr lang="en-US" sz="1200" dirty="0"/>
          </a:p>
          <a:p>
            <a:pPr>
              <a:lnSpc>
                <a:spcPct val="100000"/>
              </a:lnSpc>
            </a:pPr>
            <a:r>
              <a:rPr lang="en-US" sz="1200" dirty="0"/>
              <a:t>Sentiment data – RTAT </a:t>
            </a:r>
            <a:r>
              <a:rPr lang="en-US" sz="1200" dirty="0" err="1"/>
              <a:t>nasdaq</a:t>
            </a:r>
            <a:r>
              <a:rPr lang="en-US" sz="1200" dirty="0"/>
              <a:t> reports. </a:t>
            </a:r>
            <a:r>
              <a:rPr lang="en-US" sz="1200" dirty="0">
                <a:hlinkClick r:id="rId9"/>
              </a:rPr>
              <a:t>https://docs.data.nasdaq.com</a:t>
            </a:r>
            <a:endParaRPr lang="en-US" sz="1200" dirty="0"/>
          </a:p>
          <a:p>
            <a:pPr>
              <a:lnSpc>
                <a:spcPct val="100000"/>
              </a:lnSpc>
            </a:pPr>
            <a:r>
              <a:rPr lang="en-US" sz="1200" dirty="0"/>
              <a:t>Plots:  </a:t>
            </a:r>
            <a:r>
              <a:rPr lang="en-US" sz="1200" dirty="0">
                <a:hlinkClick r:id="rId10"/>
              </a:rPr>
              <a:t>https://hvplot.holoviz.org/user_guide/Timeseries_Data.html</a:t>
            </a:r>
            <a:endParaRPr lang="en-US" sz="1200" dirty="0"/>
          </a:p>
          <a:p>
            <a:pPr>
              <a:lnSpc>
                <a:spcPct val="100000"/>
              </a:lnSpc>
            </a:pPr>
            <a:r>
              <a:rPr lang="en-US" sz="1200" dirty="0"/>
              <a:t>News: </a:t>
            </a:r>
            <a:r>
              <a:rPr lang="en-US" sz="1200" dirty="0">
                <a:hlinkClick r:id="rId11"/>
              </a:rPr>
              <a:t>https://alpaca.markets/docs/market-data/news/</a:t>
            </a:r>
            <a:endParaRPr lang="en-US" sz="1200" dirty="0"/>
          </a:p>
          <a:p>
            <a:pPr>
              <a:lnSpc>
                <a:spcPct val="100000"/>
              </a:lnSpc>
            </a:pPr>
            <a:endParaRPr lang="en-US" sz="800" dirty="0"/>
          </a:p>
          <a:p>
            <a:pPr>
              <a:lnSpc>
                <a:spcPct val="100000"/>
              </a:lnSpc>
            </a:pPr>
            <a:endParaRPr lang="en-US" sz="800" dirty="0"/>
          </a:p>
        </p:txBody>
      </p:sp>
    </p:spTree>
    <p:extLst>
      <p:ext uri="{BB962C8B-B14F-4D97-AF65-F5344CB8AC3E}">
        <p14:creationId xmlns:p14="http://schemas.microsoft.com/office/powerpoint/2010/main" val="1921884454"/>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AccentBoxVTI">
  <a:themeElements>
    <a:clrScheme name="AnalogousFromRegularSeedRightStep">
      <a:dk1>
        <a:srgbClr val="000000"/>
      </a:dk1>
      <a:lt1>
        <a:srgbClr val="FFFFFF"/>
      </a:lt1>
      <a:dk2>
        <a:srgbClr val="412724"/>
      </a:dk2>
      <a:lt2>
        <a:srgbClr val="E2E8E4"/>
      </a:lt2>
      <a:accent1>
        <a:srgbClr val="D739AE"/>
      </a:accent1>
      <a:accent2>
        <a:srgbClr val="C5275A"/>
      </a:accent2>
      <a:accent3>
        <a:srgbClr val="D74839"/>
      </a:accent3>
      <a:accent4>
        <a:srgbClr val="C57827"/>
      </a:accent4>
      <a:accent5>
        <a:srgbClr val="B0A72F"/>
      </a:accent5>
      <a:accent6>
        <a:srgbClr val="81B223"/>
      </a:accent6>
      <a:hlink>
        <a:srgbClr val="31944B"/>
      </a:hlink>
      <a:folHlink>
        <a:srgbClr val="7F7F7F"/>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TotalTime>
  <Words>667</Words>
  <Application>Microsoft Office PowerPoint</Application>
  <PresentationFormat>Widescreen</PresentationFormat>
  <Paragraphs>73</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Avenir Next LT Pro</vt:lpstr>
      <vt:lpstr>Calibri</vt:lpstr>
      <vt:lpstr>Neue Haas Grotesk Text Pro</vt:lpstr>
      <vt:lpstr>Times New Roman</vt:lpstr>
      <vt:lpstr>Wingdings</vt:lpstr>
      <vt:lpstr>AccentBoxVTI</vt:lpstr>
      <vt:lpstr>                   Business Analysis </vt:lpstr>
      <vt:lpstr>Our motivations </vt:lpstr>
      <vt:lpstr>Questions we asked ourselves</vt:lpstr>
      <vt:lpstr>PowerPoint Presentation</vt:lpstr>
      <vt:lpstr>PowerPoint Presentation</vt:lpstr>
      <vt:lpstr>PowerPoint Presentation</vt:lpstr>
      <vt:lpstr>PowerPoint Presentation</vt:lpstr>
      <vt:lpstr>Stock &amp; Crypto Risk Analysis</vt:lpstr>
      <vt:lpstr>What is risk?</vt:lpstr>
      <vt:lpstr>Why is understanding risk important to your portfolio? </vt:lpstr>
      <vt:lpstr>Crypto &amp; Stock Sentiment</vt:lpstr>
      <vt:lpstr>Before analysis </vt:lpstr>
      <vt:lpstr>Stock Sentiment </vt:lpstr>
      <vt:lpstr>TSLA </vt:lpstr>
      <vt:lpstr>Risk &amp; Sentiment</vt:lpstr>
      <vt:lpstr>What we found after researching</vt:lpstr>
      <vt:lpstr>Summary </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 &amp; Stock Sentiment</dc:title>
  <dc:creator>NEYA CLEMONS</dc:creator>
  <cp:lastModifiedBy>Zachary Wilkinson</cp:lastModifiedBy>
  <cp:revision>6</cp:revision>
  <dcterms:created xsi:type="dcterms:W3CDTF">2023-02-23T21:42:44Z</dcterms:created>
  <dcterms:modified xsi:type="dcterms:W3CDTF">2023-02-24T01:57:47Z</dcterms:modified>
</cp:coreProperties>
</file>